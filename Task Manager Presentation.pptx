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showMasterSp="0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/>
          <p:nvPr>
            <p:ph type="ctrTitle"/>
          </p:nvPr>
        </p:nvSpPr>
        <p:spPr>
          <a:xfrm>
            <a:off x="779646" y="1501378"/>
            <a:ext cx="7565400" cy="1131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779646" y="3096929"/>
            <a:ext cx="75654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5648" y="-75001"/>
            <a:ext cx="2254509" cy="15944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" name="Google Shape;23;p2"/>
          <p:cNvCxnSpPr/>
          <p:nvPr/>
        </p:nvCxnSpPr>
        <p:spPr>
          <a:xfrm>
            <a:off x="3416753" y="918483"/>
            <a:ext cx="5805000" cy="0"/>
          </a:xfrm>
          <a:prstGeom prst="straightConnector1">
            <a:avLst/>
          </a:prstGeom>
          <a:noFill/>
          <a:ln cap="rnd" cmpd="sng" w="42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2"/>
          <p:cNvCxnSpPr/>
          <p:nvPr/>
        </p:nvCxnSpPr>
        <p:spPr>
          <a:xfrm>
            <a:off x="-85725" y="4678136"/>
            <a:ext cx="4041300" cy="0"/>
          </a:xfrm>
          <a:prstGeom prst="straightConnector1">
            <a:avLst/>
          </a:prstGeom>
          <a:noFill/>
          <a:ln cap="rnd" cmpd="sng" w="42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5" name="Google Shape;2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5568" y="4114550"/>
            <a:ext cx="5165863" cy="145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5648" y="-75001"/>
            <a:ext cx="2254509" cy="15944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27;p2"/>
          <p:cNvCxnSpPr/>
          <p:nvPr/>
        </p:nvCxnSpPr>
        <p:spPr>
          <a:xfrm>
            <a:off x="3416753" y="918483"/>
            <a:ext cx="5805000" cy="0"/>
          </a:xfrm>
          <a:prstGeom prst="straightConnector1">
            <a:avLst/>
          </a:prstGeom>
          <a:noFill/>
          <a:ln cap="rnd" cmpd="sng" w="42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/>
          <p:nvPr>
            <p:ph idx="1" type="body"/>
          </p:nvPr>
        </p:nvSpPr>
        <p:spPr>
          <a:xfrm>
            <a:off x="628650" y="1469572"/>
            <a:ext cx="7711200" cy="27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7602992" y="4280127"/>
            <a:ext cx="13410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3"/>
          <p:cNvSpPr txBox="1"/>
          <p:nvPr>
            <p:ph type="title"/>
          </p:nvPr>
        </p:nvSpPr>
        <p:spPr>
          <a:xfrm>
            <a:off x="628650" y="416378"/>
            <a:ext cx="6657900" cy="8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794084" y="964670"/>
            <a:ext cx="7565400" cy="161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794084" y="3124465"/>
            <a:ext cx="7565400" cy="10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D8992"/>
              </a:buClr>
              <a:buSzPts val="1800"/>
              <a:buNone/>
              <a:defRPr sz="1800">
                <a:solidFill>
                  <a:srgbClr val="ED899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ED8992"/>
              </a:buClr>
              <a:buSzPts val="1500"/>
              <a:buNone/>
              <a:defRPr sz="1500">
                <a:solidFill>
                  <a:srgbClr val="ED8992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ED8992"/>
              </a:buClr>
              <a:buSzPts val="1400"/>
              <a:buNone/>
              <a:defRPr sz="1400">
                <a:solidFill>
                  <a:srgbClr val="ED8992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ED8992"/>
              </a:buClr>
              <a:buSzPts val="1200"/>
              <a:buNone/>
              <a:defRPr sz="1200">
                <a:solidFill>
                  <a:srgbClr val="ED8992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ED8992"/>
              </a:buClr>
              <a:buSzPts val="1200"/>
              <a:buNone/>
              <a:defRPr sz="1200">
                <a:solidFill>
                  <a:srgbClr val="ED8992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ED8992"/>
              </a:buClr>
              <a:buSzPts val="1200"/>
              <a:buNone/>
              <a:defRPr sz="1200">
                <a:solidFill>
                  <a:srgbClr val="ED8992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ED8992"/>
              </a:buClr>
              <a:buSzPts val="1200"/>
              <a:buNone/>
              <a:defRPr sz="1200">
                <a:solidFill>
                  <a:srgbClr val="ED8992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ED8992"/>
              </a:buClr>
              <a:buSzPts val="1200"/>
              <a:buNone/>
              <a:defRPr sz="1200">
                <a:solidFill>
                  <a:srgbClr val="ED8992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ED8992"/>
              </a:buClr>
              <a:buSzPts val="1200"/>
              <a:buNone/>
              <a:defRPr sz="1200">
                <a:solidFill>
                  <a:srgbClr val="ED899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7537676" y="4144906"/>
            <a:ext cx="13716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628650" y="416378"/>
            <a:ext cx="6657900" cy="8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628649" y="1369219"/>
            <a:ext cx="39393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4629150" y="1369219"/>
            <a:ext cx="26574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7548696" y="4039289"/>
            <a:ext cx="13410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629841" y="1494064"/>
            <a:ext cx="31542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629841" y="2026784"/>
            <a:ext cx="3154200" cy="24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4029075" y="1494064"/>
            <a:ext cx="32454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6"/>
          <p:cNvSpPr txBox="1"/>
          <p:nvPr>
            <p:ph idx="4" type="body"/>
          </p:nvPr>
        </p:nvSpPr>
        <p:spPr>
          <a:xfrm>
            <a:off x="4029075" y="2026784"/>
            <a:ext cx="3245400" cy="24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title"/>
          </p:nvPr>
        </p:nvSpPr>
        <p:spPr>
          <a:xfrm>
            <a:off x="629841" y="273844"/>
            <a:ext cx="6644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7548696" y="4039289"/>
            <a:ext cx="13410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7"/>
          <p:cNvSpPr txBox="1"/>
          <p:nvPr>
            <p:ph type="title"/>
          </p:nvPr>
        </p:nvSpPr>
        <p:spPr>
          <a:xfrm>
            <a:off x="628650" y="416378"/>
            <a:ext cx="6657900" cy="8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7548696" y="4039289"/>
            <a:ext cx="13410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7548696" y="4039289"/>
            <a:ext cx="13410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9"/>
          <p:cNvSpPr txBox="1"/>
          <p:nvPr>
            <p:ph type="title"/>
          </p:nvPr>
        </p:nvSpPr>
        <p:spPr>
          <a:xfrm>
            <a:off x="629841" y="342900"/>
            <a:ext cx="29493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875144" y="961004"/>
            <a:ext cx="3673500" cy="3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7548696" y="4039289"/>
            <a:ext cx="13410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type="title"/>
          </p:nvPr>
        </p:nvSpPr>
        <p:spPr>
          <a:xfrm>
            <a:off x="629841" y="342900"/>
            <a:ext cx="29493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/>
          <p:nvPr>
            <p:ph idx="2" type="pic"/>
          </p:nvPr>
        </p:nvSpPr>
        <p:spPr>
          <a:xfrm>
            <a:off x="3887391" y="955222"/>
            <a:ext cx="4368000" cy="30840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629841" y="1543050"/>
            <a:ext cx="2949300" cy="24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 title="0"/>
          <p:cNvSpPr txBox="1"/>
          <p:nvPr>
            <p:ph idx="12" type="sldNum"/>
          </p:nvPr>
        </p:nvSpPr>
        <p:spPr>
          <a:xfrm>
            <a:off x="7548696" y="4039289"/>
            <a:ext cx="13410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7200" u="none" cap="none" strike="noStrik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7200" u="none" cap="none" strike="noStrik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7200" u="none" cap="none" strike="noStrik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7200" u="none" cap="none" strike="noStrik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7200" u="none" cap="none" strike="noStrik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7200" u="none" cap="none" strike="noStrik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7200" u="none" cap="none" strike="noStrik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7200" u="none" cap="none" strike="noStrik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7200" u="none" cap="none" strike="noStrik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469572"/>
            <a:ext cx="7711200" cy="26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ED899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326" y="150614"/>
            <a:ext cx="1116869" cy="78989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>
            <p:ph type="title"/>
          </p:nvPr>
        </p:nvSpPr>
        <p:spPr>
          <a:xfrm>
            <a:off x="628650" y="416378"/>
            <a:ext cx="6657900" cy="8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cxnSp>
        <p:nvCxnSpPr>
          <p:cNvPr id="15" name="Google Shape;15;p1"/>
          <p:cNvCxnSpPr/>
          <p:nvPr/>
        </p:nvCxnSpPr>
        <p:spPr>
          <a:xfrm>
            <a:off x="-43312" y="4714875"/>
            <a:ext cx="7209000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" name="Google Shape;16;p1"/>
          <p:cNvCxnSpPr/>
          <p:nvPr/>
        </p:nvCxnSpPr>
        <p:spPr>
          <a:xfrm>
            <a:off x="7695398" y="820511"/>
            <a:ext cx="1485000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1"/>
          <p:cNvCxnSpPr/>
          <p:nvPr/>
        </p:nvCxnSpPr>
        <p:spPr>
          <a:xfrm>
            <a:off x="-43312" y="4714875"/>
            <a:ext cx="7209000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1"/>
          <p:cNvCxnSpPr/>
          <p:nvPr/>
        </p:nvCxnSpPr>
        <p:spPr>
          <a:xfrm>
            <a:off x="7695398" y="820511"/>
            <a:ext cx="1485000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/>
          <p:nvPr/>
        </p:nvSpPr>
        <p:spPr>
          <a:xfrm>
            <a:off x="579120" y="434340"/>
            <a:ext cx="79857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Разработка PWA-системы управления задачами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2"/>
          <p:cNvSpPr/>
          <p:nvPr/>
        </p:nvSpPr>
        <p:spPr>
          <a:xfrm>
            <a:off x="3896531" y="1828800"/>
            <a:ext cx="1350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Курсовой проект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2"/>
          <p:cNvSpPr/>
          <p:nvPr/>
        </p:nvSpPr>
        <p:spPr>
          <a:xfrm>
            <a:off x="2768560" y="2636520"/>
            <a:ext cx="36068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Дисциплина: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Основы программирования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2"/>
          <p:cNvSpPr/>
          <p:nvPr/>
        </p:nvSpPr>
        <p:spPr>
          <a:xfrm>
            <a:off x="2768560" y="3025140"/>
            <a:ext cx="36068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Группа: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251-3210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2"/>
          <p:cNvSpPr/>
          <p:nvPr/>
        </p:nvSpPr>
        <p:spPr>
          <a:xfrm>
            <a:off x="2768560" y="3413760"/>
            <a:ext cx="36068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Преподаватель: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Красн</a:t>
            </a:r>
            <a:r>
              <a:rPr lang="en-US" sz="1350">
                <a:solidFill>
                  <a:srgbClr val="475569"/>
                </a:solidFill>
              </a:rPr>
              <a:t>и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кова И.Н.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2"/>
          <p:cNvSpPr/>
          <p:nvPr/>
        </p:nvSpPr>
        <p:spPr>
          <a:xfrm>
            <a:off x="2768560" y="3802380"/>
            <a:ext cx="36068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Год: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2025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2"/>
          <p:cNvSpPr/>
          <p:nvPr/>
        </p:nvSpPr>
        <p:spPr>
          <a:xfrm>
            <a:off x="2768560" y="4305300"/>
            <a:ext cx="3606879" cy="28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Выполнили: </a:t>
            </a:r>
            <a:r>
              <a:rPr i="0" lang="en-US" sz="1350" u="none" cap="none" strike="noStrike">
                <a:solidFill>
                  <a:srgbClr val="475569"/>
                </a:solidFill>
              </a:rPr>
              <a:t>Пискарев И.М. Спирин И.А</a:t>
            </a:r>
            <a:r>
              <a:rPr b="1" lang="en-US" sz="1350">
                <a:solidFill>
                  <a:srgbClr val="475569"/>
                </a:solidFill>
              </a:rPr>
              <a:t>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/>
          <p:nvPr/>
        </p:nvSpPr>
        <p:spPr>
          <a:xfrm>
            <a:off x="2848836" y="1192530"/>
            <a:ext cx="344620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Актуальность темы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2110145" y="2045970"/>
            <a:ext cx="4923592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Рост использования мобильных устройств для работы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Необходимость простого и удобного управления задачами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PWA как альтернатива мобильным приложениям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Возможность работы в офлайн-режиме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Синхронизация данных между устройствами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2591132" y="491490"/>
            <a:ext cx="396161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Цель и задачи проекта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4235965" y="1268731"/>
            <a:ext cx="672070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Цель: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1278324" y="1642110"/>
            <a:ext cx="6587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Разработка прогрессивного веб-приложения для управления личными задачами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4119987" y="2259331"/>
            <a:ext cx="904027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Задачи: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2106692" y="2747010"/>
            <a:ext cx="4930497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Изучить архитектуру PWA-приложений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Разработать серверную часть на Django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Создать интерактивный интерфейс на React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Спроектировать базу данных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Реализовать функции создания, удаления и отметки задач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2758481" y="750570"/>
            <a:ext cx="362703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Предметная область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1596096" y="1568760"/>
            <a:ext cx="59517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Пользователь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создаёт и управляет задачами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Задача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единица работы с полями: название, приоритет, дата, статус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Операции: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Добавление новой задачи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Просмотр списка всех задач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Отметка задачи как выполненной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Удаление </a:t>
            </a:r>
            <a:r>
              <a:rPr lang="en-US" sz="1350">
                <a:solidFill>
                  <a:srgbClr val="475569"/>
                </a:solidFill>
              </a:rPr>
              <a:t>завершенных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задач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1596095" y="2880200"/>
            <a:ext cx="2916600" cy="13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Добавление новой задачи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Просмотр списка всех задач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Отметка задачи как выполненной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Удаление </a:t>
            </a:r>
            <a:r>
              <a:rPr lang="en-US" sz="1350">
                <a:solidFill>
                  <a:srgbClr val="475569"/>
                </a:solidFill>
              </a:rPr>
              <a:t>завершенных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задач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/>
          <p:nvPr/>
        </p:nvSpPr>
        <p:spPr>
          <a:xfrm>
            <a:off x="1839759" y="1036320"/>
            <a:ext cx="5464483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Функциональные возможности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1764864" y="1889761"/>
            <a:ext cx="5614273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Управление задачами: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добавление, удаление, изменение статуса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Приоритизация: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низкий, средний, высокий приоритет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Фильтрация: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показ только активных или </a:t>
            </a:r>
            <a:r>
              <a:rPr lang="en-US" sz="1350">
                <a:solidFill>
                  <a:srgbClr val="475569"/>
                </a:solidFill>
              </a:rPr>
              <a:t>завершенных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задач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Персистентность: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сохранение данных в БД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Адаптивность: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работа на ПК, планшете, смартфоне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Интерфейс: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тёмная тема, интуитивная навигация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2235788" y="834391"/>
            <a:ext cx="467230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Используемые технологии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579120" y="1611630"/>
            <a:ext cx="3917290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Backend: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579120" y="2099311"/>
            <a:ext cx="2182535" cy="1363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Python 3.10+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Django 6.0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Django REST Framework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SQLite3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4724400" y="1611630"/>
            <a:ext cx="3917290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Frontend: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4724400" y="2099311"/>
            <a:ext cx="1988106" cy="1363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React 18+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Vite (сборщик)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CSS3 для стилизации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2923037" y="3920491"/>
            <a:ext cx="32979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PWA: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Service Workers, Web App Manifest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/>
          <p:nvPr/>
        </p:nvSpPr>
        <p:spPr>
          <a:xfrm>
            <a:off x="3466981" y="1600200"/>
            <a:ext cx="2210038" cy="2788920"/>
          </a:xfrm>
          <a:prstGeom prst="rect">
            <a:avLst/>
          </a:prstGeom>
          <a:solidFill>
            <a:srgbClr val="F1F5F9"/>
          </a:solidFill>
          <a:ln cap="flat" cmpd="sng" w="152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2360875" y="60961"/>
            <a:ext cx="4422131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Архитектура приложения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2539883" y="914400"/>
            <a:ext cx="406411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Трёхслойная клиент-серверная архитектура: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3771322" y="2034541"/>
            <a:ext cx="160135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React (Vite)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3771322" y="2453641"/>
            <a:ext cx="160135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3771322" y="2842261"/>
            <a:ext cx="160135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Django REST API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3771322" y="3261361"/>
            <a:ext cx="160135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3771322" y="3649980"/>
            <a:ext cx="160135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SQLite Database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1301641" y="4693920"/>
            <a:ext cx="654071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Фронтенд отправляет HTTP-запросы, бэкенд обрабатывает и возвращает JSON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/>
          <p:nvPr/>
        </p:nvSpPr>
        <p:spPr>
          <a:xfrm>
            <a:off x="2946112" y="922020"/>
            <a:ext cx="3251656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Структура проекта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540715" y="1699259"/>
            <a:ext cx="3917290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579120" y="2186941"/>
            <a:ext cx="2397323" cy="1805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40"/>
              <a:buFont typeface="Arial"/>
              <a:buChar char="•"/>
            </a:pPr>
            <a:r>
              <a:rPr b="0" i="0" lang="en-US" sz="13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task-manager/ — конфиг проекта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40"/>
              <a:buFont typeface="Arial"/>
              <a:buChar char="•"/>
            </a:pPr>
            <a:r>
              <a:rPr b="0" i="0" lang="en-US" sz="13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api/ — приложение Django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40"/>
              <a:buFont typeface="Arial"/>
              <a:buChar char="•"/>
            </a:pPr>
            <a:r>
              <a:rPr b="0" i="0" lang="en-US" sz="13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models.py — модель Task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40"/>
              <a:buFont typeface="Arial"/>
              <a:buChar char="•"/>
            </a:pPr>
            <a:r>
              <a:rPr b="0" i="0" lang="en-US" sz="13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views.py — API endpoints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40"/>
              <a:buFont typeface="Arial"/>
              <a:buChar char="•"/>
            </a:pPr>
            <a:r>
              <a:rPr b="0" i="0" lang="en-US" sz="13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urls.py — маршруты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40"/>
              <a:buFont typeface="Arial"/>
              <a:buChar char="•"/>
            </a:pPr>
            <a:r>
              <a:rPr b="0" i="0" lang="en-US" sz="13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db.sqlite3 — БД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4685995" y="1699259"/>
            <a:ext cx="3917290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4724400" y="2186941"/>
            <a:ext cx="2485549" cy="1805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40"/>
              <a:buFont typeface="Arial"/>
              <a:buChar char="•"/>
            </a:pPr>
            <a:r>
              <a:rPr b="0" i="0" lang="en-US" sz="13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src/ — исходный код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40"/>
              <a:buFont typeface="Arial"/>
              <a:buChar char="•"/>
            </a:pPr>
            <a:r>
              <a:rPr b="0" i="0" lang="en-US" sz="13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components/ — React компоненты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40"/>
              <a:buFont typeface="Arial"/>
              <a:buChar char="•"/>
            </a:pPr>
            <a:r>
              <a:rPr b="0" i="0" lang="en-US" sz="13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api.ts — интеграция API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40"/>
              <a:buFont typeface="Arial"/>
              <a:buChar char="•"/>
            </a:pPr>
            <a:r>
              <a:rPr b="0" i="0" lang="en-US" sz="13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types.ts — TypeScript типы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40"/>
              <a:buFont typeface="Arial"/>
              <a:buChar char="•"/>
            </a:pPr>
            <a:r>
              <a:rPr b="0" i="0" lang="en-US" sz="13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index.css — стили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40"/>
              <a:buFont typeface="Arial"/>
              <a:buChar char="•"/>
            </a:pPr>
            <a:r>
              <a:rPr b="0" i="0" lang="en-US" sz="134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main.tsx — точка входа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2617589" y="1985009"/>
            <a:ext cx="3908703" cy="230124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3450226" y="125732"/>
            <a:ext cx="224343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База данных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2953640" y="864873"/>
            <a:ext cx="3236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СУБД: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SQLite3 (лёгкая, встроенная БД)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3949965" y="1367791"/>
            <a:ext cx="12440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Таблица: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tasks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2853809" y="2297432"/>
            <a:ext cx="35049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VARCHAR(100), PRIMARY KEY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2853809" y="2647950"/>
            <a:ext cx="35049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VARCHAR(100), NOT NULL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2853809" y="2998473"/>
            <a:ext cx="35049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BOOLEAN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2853809" y="3348991"/>
            <a:ext cx="35049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DATETIME (дата создания)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2853809" y="3699509"/>
            <a:ext cx="35049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priority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VARCHAR(10) (low/medium/high)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2512315" y="4629150"/>
            <a:ext cx="411925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Структура оптимальна для хранения списка задач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/>
          <p:nvPr/>
        </p:nvSpPr>
        <p:spPr>
          <a:xfrm>
            <a:off x="1515746" y="381000"/>
            <a:ext cx="6112507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Алгоритм программы (Блок-схема)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2502218" y="1234441"/>
            <a:ext cx="4139565" cy="3299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1. НАЧАЛО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2. Инициализация приложения React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3. Загрузка Service Worker для PWA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4. Подключение к Django REST 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5. Загрузка списка задач из БД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6. Ожидание действий пользователя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7. Выполнение операции (добавить/отметить/удалить)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8. Отправка запроса на сервер (POST/PATCH/DELETE)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9. Обновление UI с результатом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10. Синхронизация при восстановлении связи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11. КОНЕЦ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/>
          <p:nvPr/>
        </p:nvSpPr>
        <p:spPr>
          <a:xfrm>
            <a:off x="2430341" y="1036323"/>
            <a:ext cx="42832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PWA-функциональность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1964770" y="1889759"/>
            <a:ext cx="5214342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Web App Manifest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метаданные приложения для установки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Service Worker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скрипт для кэширования и офлайн-доступа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HTTPS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безопасная передача данных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Адаптивный дизайн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работа на всех экранах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Установка на устройство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значок на главном экране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Офлайн-режим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приложение работает без интернета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/>
          <p:nvPr/>
        </p:nvSpPr>
        <p:spPr>
          <a:xfrm>
            <a:off x="2482196" y="1036323"/>
            <a:ext cx="4179608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Интерфейс приложения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1458754" y="1889759"/>
            <a:ext cx="6226493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Дизайн: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тёмная тема (dark mode) для комфорта в любое время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Навигация: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простая и интуитивная для пользователя любого уровня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Входное поле: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добавление задач с указанием названия и приоритета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Список задач: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отображение всех задач с возможностью отметить/удалить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Адаптивность: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оптимизирован для мобильных устройств и ПК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Анимации: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плавные переходы и взаимодействия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/>
          <p:nvPr/>
        </p:nvSpPr>
        <p:spPr>
          <a:xfrm>
            <a:off x="2865594" y="773432"/>
            <a:ext cx="3412812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Результаты работы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2250162" y="1626873"/>
            <a:ext cx="4643676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✓ </a:t>
            </a: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Реализовано работающее PWA-приложение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✓ </a:t>
            </a: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Функциональный интерфейс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на React + TypeScript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✓ </a:t>
            </a: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REST API на Django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для управления задачами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✓ </a:t>
            </a: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Спроектирована база данных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SQLite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✓ </a:t>
            </a: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Данные персистируются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и синхронизируются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✓ </a:t>
            </a: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Приложение доступно на ПК и смартфоне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✓ </a:t>
            </a: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Достигнуты все цели проекта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/>
          <p:nvPr/>
        </p:nvSpPr>
        <p:spPr>
          <a:xfrm>
            <a:off x="2550448" y="1036323"/>
            <a:ext cx="4042984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Возможности развития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1593652" y="1889759"/>
            <a:ext cx="5956697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Авторизация пользователей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учёт нескольких пользователей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Облачная база данных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PostgreSQL или Firebase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Категоризация задач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организация по проектам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Напоминания и уведомления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push-уведомления перед дедлайном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Синхронизация между устройствами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синхро в реал-тайме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Интеграция с </a:t>
            </a:r>
            <a:r>
              <a:rPr b="1" lang="en-US" sz="1350">
                <a:solidFill>
                  <a:srgbClr val="0284C7"/>
                </a:solidFill>
              </a:rPr>
              <a:t>календарем</a:t>
            </a: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— вывод задач в календарь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/>
          <p:nvPr/>
        </p:nvSpPr>
        <p:spPr>
          <a:xfrm>
            <a:off x="1983426" y="1826748"/>
            <a:ext cx="51771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Спасибо за внимание!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3">
  <a:themeElements>
    <a:clrScheme name="Московский Политех красная">
      <a:dk1>
        <a:srgbClr val="E61E46"/>
      </a:dk1>
      <a:lt1>
        <a:srgbClr val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